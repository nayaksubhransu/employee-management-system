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748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811201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8773148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94265100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862826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8483949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0232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0718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733614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439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7997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455953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29C68-1222-CC5B-E66F-BC22D20C6914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336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510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753176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C53108-5FBF-3271-83C4-FB2862894C24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6384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1437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46467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BC2CD1-299B-8FAC-749A-D0C73B500130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58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7927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282525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ADF750-E893-07FC-2797-31D846F3B0C5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6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854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787295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57FF2-74DD-D525-F217-0932043EB044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8017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33634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234791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004BB7-D2B4-40E8-9452-3F8F6E7AA33E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810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6473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323368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53D07B-E0DF-C58F-FBFA-6BB29684A886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43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6909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539497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1FDCFF-CBB9-B741-696D-E97EA779DF05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488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01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993108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8AD12E-3AD0-3B93-9775-7CE8531013BD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8769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732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873407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CE3379-F764-4949-0707-BE004F8C34C2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54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574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930438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E6A89C-26F4-1AB4-3BCE-71E6002ADD09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8243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0483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165412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37573-898C-218D-5790-DD01594A2A88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325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713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706886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3357F8-7E2A-020C-C905-592796AAD87A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981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3283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602765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D29714-1002-A345-63D6-43FADC63AFBC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1069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814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431848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23523-BFE4-81E7-00AE-3AD8B3FF1DB0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25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4147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563506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D162D-9567-1B25-FF4A-B3D576E0E2BA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922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0055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43138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4F261-9541-BA05-E6D4-BA4D834E6485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44933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7818729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5924044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796006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998288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5724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134058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31508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716614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000937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41708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0579509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133949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0241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914811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492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7131849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284981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775159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69270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351724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48938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662674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0771036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221136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240889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453760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202417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168403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3040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790345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3491793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824661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146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082945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53333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62480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5756504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33518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313825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405020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454617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885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7817748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2958488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492864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556672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624419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6701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280448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760809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04107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076092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175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901646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7747467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910253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534052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48980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01477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286112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601022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909800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84301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941249" y="5556249"/>
            <a:ext cx="6230937" cy="14155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IN" sz="2600" b="1" i="0" u="none" strike="noStrike" cap="none" spc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</a:rPr>
              <a:t>By – Subhransu Priyaranjan Nayak </a:t>
            </a:r>
            <a:endParaRPr sz="2600" b="1" i="0" u="none" strike="noStrike" cap="none" spc="0">
              <a:solidFill>
                <a:schemeClr val="dk1"/>
              </a:solidFill>
              <a:latin typeface="Century Schoolbook"/>
              <a:cs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2600" b="1" i="0" u="none" strike="noStrike" cap="none">
              <a:solidFill>
                <a:srgbClr val="000000"/>
              </a:solidFill>
              <a:latin typeface="Century Schoolbook"/>
              <a:cs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IN" sz="2000" b="1" i="0" u="none" strike="noStrike" cap="none" spc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</a:rPr>
              <a:t>IIT Bhubaneswar </a:t>
            </a:r>
            <a:endParaRPr lang="en-IN" sz="26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pic>
        <p:nvPicPr>
          <p:cNvPr id="12530004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3302" y="343958"/>
            <a:ext cx="7398467" cy="3743853"/>
          </a:xfrm>
          <a:prstGeom prst="rect">
            <a:avLst/>
          </a:prstGeom>
        </p:spPr>
      </p:pic>
      <p:sp>
        <p:nvSpPr>
          <p:cNvPr id="263394939" name="Subtitle 2"/>
          <p:cNvSpPr>
            <a:spLocks noGrp="1"/>
          </p:cNvSpPr>
          <p:nvPr/>
        </p:nvSpPr>
        <p:spPr bwMode="auto">
          <a:xfrm flipH="0" flipV="0">
            <a:off x="1287395" y="4275832"/>
            <a:ext cx="9979998" cy="4285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sz="2000" b="1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</a:rPr>
              <a:t>Streamlining HR Operations Through Data-Driven Solutions</a:t>
            </a:r>
            <a:endParaRPr sz="4800" b="1">
              <a:latin typeface="Century Schoolbook"/>
              <a:cs typeface="Century Schoolboo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99933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726562" y="224895"/>
            <a:ext cx="6918854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lang="en-IN" sz="4800" b="1" i="0" u="none" strike="noStrike" cap="none" spc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</a:rPr>
              <a:t>Introduction</a:t>
            </a:r>
            <a:endParaRPr sz="2400" b="1"/>
          </a:p>
        </p:txBody>
      </p:sp>
      <p:sp>
        <p:nvSpPr>
          <p:cNvPr id="18409417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45322" y="1434166"/>
            <a:ext cx="11628426" cy="430729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17793" indent="-217793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comprehensive database solution designed to centralize and optimize employee data management across all organizational levels.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 algn="l">
              <a:buFont typeface="Arial"/>
              <a:buChar char="•"/>
              <a:defRPr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Integrates employee profiles, payroll processing, leave management, and qualification tracking in a unified relational database system.</a:t>
            </a:r>
            <a:endParaRPr sz="2400" b="0"/>
          </a:p>
          <a:p>
            <a:pPr marL="217793" indent="-217793" algn="l">
              <a:buFont typeface="Arial"/>
              <a:buChar char="•"/>
              <a:defRPr/>
            </a:pPr>
            <a:endParaRPr sz="2400" b="0"/>
          </a:p>
          <a:p>
            <a:pPr marL="217793" indent="-217793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Enables data-driven decision making through advanced analytics and reporting capabilities for strategic HR management.</a:t>
            </a:r>
            <a:endParaRPr sz="2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76171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726562" y="224895"/>
            <a:ext cx="6918854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Objectives 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98407134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81786" y="1394416"/>
            <a:ext cx="11628426" cy="430729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305908" indent="-305908" algn="l">
              <a:buFont typeface="Arial"/>
              <a:buChar char="•"/>
              <a:defRPr/>
            </a:pPr>
            <a:r>
              <a:rPr lang="en-IN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efficient, normalized relational database for all employee data.</a:t>
            </a:r>
            <a:endParaRPr sz="8000"/>
          </a:p>
          <a:p>
            <a:pPr marL="305908" indent="-305908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 full employee lifecycle—personal, job, salary, qualifications, leave, payroll.</a:t>
            </a:r>
            <a:endParaRPr sz="8000"/>
          </a:p>
          <a:p>
            <a:pPr marL="305908" indent="-305908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Enforce data quality with constraints and relationships.</a:t>
            </a:r>
            <a:endParaRPr sz="8000"/>
          </a:p>
          <a:p>
            <a:pPr marL="305908" indent="-305908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 quick, accurate, real-time data to streamline HR workflows and decisions.</a:t>
            </a:r>
            <a:endParaRPr sz="8000"/>
          </a:p>
          <a:p>
            <a:pPr marL="305908" indent="-305908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 deep HR analytics (compensation, performance, leave patterns, workforce planning).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995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726562" y="92603"/>
            <a:ext cx="6918854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algn="ctr">
              <a:defRPr/>
            </a:pPr>
            <a:r>
              <a:rPr sz="4800" b="1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</a:rPr>
              <a:t> System Scope &amp; Features</a:t>
            </a:r>
            <a:r>
              <a:rPr sz="4800" b="1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</a:rPr>
              <a:t> </a:t>
            </a:r>
            <a:endParaRPr sz="4800" b="1">
              <a:latin typeface="Century Schoolbook"/>
              <a:cs typeface="Century Schoolbook"/>
            </a:endParaRPr>
          </a:p>
        </p:txBody>
      </p:sp>
      <p:sp>
        <p:nvSpPr>
          <p:cNvPr id="5832788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81786" y="865312"/>
            <a:ext cx="11628426" cy="5762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Feature</a:t>
            </a: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 </a:t>
            </a:r>
            <a:r>
              <a:rPr lang="en-IN" sz="2800" b="1" u="none">
                <a:latin typeface="Times New Roman"/>
                <a:ea typeface="Times New Roman"/>
                <a:cs typeface="Times New Roman"/>
              </a:rPr>
              <a:t>of Project:</a:t>
            </a:r>
            <a:endParaRPr lang="en-IN" sz="2400"/>
          </a:p>
          <a:p>
            <a:pPr algn="l">
              <a:defRPr/>
            </a:pPr>
            <a:endParaRPr lang="en-IN" sz="24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 Management: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Maintain complete employee profiles, departments, and job roles.</a:t>
            </a:r>
            <a:endParaRPr sz="80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Payroll &amp; Compensation: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Automate payroll, bonuses, deductions; generate compensation reports.</a:t>
            </a:r>
            <a:endParaRPr sz="80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Qualification Tracking: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Manage skills, qualifications, training, and certifications.</a:t>
            </a:r>
            <a:endParaRPr sz="80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Leave Management: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Handle leave requests/approvals; analyse leave patterns.</a:t>
            </a:r>
            <a:endParaRPr sz="80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Analytics &amp; Reporting: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Provide advanced HR metrics, performance trends, and workforce planning tools.</a:t>
            </a:r>
            <a:endParaRPr lang="en-IN" sz="80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Database: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6 interconnected tables for complete employee data.</a:t>
            </a:r>
            <a:endParaRPr sz="2400"/>
          </a:p>
          <a:p>
            <a:pPr marL="217793" indent="-217793" algn="l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Advanced Analytics: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queries for workforce insights, pay equity, and performance trends.</a:t>
            </a:r>
            <a:endParaRPr lang="en-IN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94707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17291" y="2182812"/>
            <a:ext cx="3333749" cy="16668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lang="en-IN" sz="4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</a:t>
            </a:r>
            <a:endParaRPr lang="en-IN" sz="4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IN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Diagram</a:t>
            </a:r>
            <a:r>
              <a:rPr lang="en-IN" sz="2400"/>
              <a:t> </a:t>
            </a:r>
            <a:endParaRPr sz="2800">
              <a:latin typeface="Century Schoolbook"/>
              <a:cs typeface="Century Schoolbook"/>
            </a:endParaRPr>
          </a:p>
        </p:txBody>
      </p:sp>
      <p:pic>
        <p:nvPicPr>
          <p:cNvPr id="20389233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5416" y="-26458"/>
            <a:ext cx="5423958" cy="6879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4582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17291" y="2182812"/>
            <a:ext cx="3333749" cy="21298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IN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GB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ables </a:t>
            </a:r>
            <a:endParaRPr lang="en-GB" sz="3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complete </a:t>
            </a:r>
            <a:r>
              <a:rPr lang="en-GB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 </a:t>
            </a:r>
            <a:r>
              <a:rPr lang="en-IN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lang="en-GB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ata</a:t>
            </a:r>
            <a:endParaRPr sz="2600"/>
          </a:p>
        </p:txBody>
      </p:sp>
      <p:pic>
        <p:nvPicPr>
          <p:cNvPr id="1540529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19562" y="115085"/>
            <a:ext cx="6465124" cy="6584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14854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1629136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17083" y="1746249"/>
            <a:ext cx="5121041" cy="2169583"/>
          </a:xfrm>
          <a:prstGeom prst="rect">
            <a:avLst/>
          </a:prstGeom>
        </p:spPr>
      </p:pic>
      <p:sp>
        <p:nvSpPr>
          <p:cNvPr id="1274443608" name=""/>
          <p:cNvSpPr/>
          <p:nvPr/>
        </p:nvSpPr>
        <p:spPr bwMode="auto">
          <a:xfrm flipH="0" flipV="0">
            <a:off x="339608" y="1224448"/>
            <a:ext cx="4688721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1. Employee Headcount &amp; Basic Info</a:t>
            </a:r>
            <a:endParaRPr sz="2800"/>
          </a:p>
        </p:txBody>
      </p:sp>
      <p:pic>
        <p:nvPicPr>
          <p:cNvPr id="4252643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1274" y="4101041"/>
            <a:ext cx="9296399" cy="2533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71664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901700398" name=""/>
          <p:cNvSpPr/>
          <p:nvPr/>
        </p:nvSpPr>
        <p:spPr bwMode="auto">
          <a:xfrm flipH="0" flipV="0">
            <a:off x="519608" y="1018645"/>
            <a:ext cx="4689801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 count per department</a:t>
            </a:r>
            <a:endParaRPr sz="2800"/>
          </a:p>
        </p:txBody>
      </p:sp>
      <p:pic>
        <p:nvPicPr>
          <p:cNvPr id="3661722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1259" y="1619249"/>
            <a:ext cx="4248149" cy="1809749"/>
          </a:xfrm>
          <a:prstGeom prst="rect">
            <a:avLst/>
          </a:prstGeom>
        </p:spPr>
      </p:pic>
      <p:pic>
        <p:nvPicPr>
          <p:cNvPr id="117172239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158959" y="1330282"/>
            <a:ext cx="4074054" cy="2254249"/>
          </a:xfrm>
          <a:prstGeom prst="rect">
            <a:avLst/>
          </a:prstGeom>
        </p:spPr>
      </p:pic>
      <p:pic>
        <p:nvPicPr>
          <p:cNvPr id="165855896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61259" y="4439587"/>
            <a:ext cx="4733924" cy="1133474"/>
          </a:xfrm>
          <a:prstGeom prst="rect">
            <a:avLst/>
          </a:prstGeom>
        </p:spPr>
      </p:pic>
      <p:pic>
        <p:nvPicPr>
          <p:cNvPr id="206816435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251564" y="4204758"/>
            <a:ext cx="3981449" cy="2419108"/>
          </a:xfrm>
          <a:prstGeom prst="rect">
            <a:avLst/>
          </a:prstGeom>
        </p:spPr>
      </p:pic>
      <p:sp>
        <p:nvSpPr>
          <p:cNvPr id="2089020132" name=""/>
          <p:cNvSpPr/>
          <p:nvPr/>
        </p:nvSpPr>
        <p:spPr bwMode="auto">
          <a:xfrm flipH="0" flipV="0">
            <a:off x="519608" y="3825386"/>
            <a:ext cx="5819236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Number of different job roles per </a:t>
            </a:r>
            <a:r>
              <a:rPr lang="en-IN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34139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320687583" name=""/>
          <p:cNvSpPr/>
          <p:nvPr/>
        </p:nvSpPr>
        <p:spPr bwMode="auto">
          <a:xfrm flipH="0" flipV="0">
            <a:off x="519608" y="1018645"/>
            <a:ext cx="4690881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 salary per department</a:t>
            </a:r>
            <a:endParaRPr sz="2800"/>
          </a:p>
        </p:txBody>
      </p:sp>
      <p:sp>
        <p:nvSpPr>
          <p:cNvPr id="1271915730" name=""/>
          <p:cNvSpPr/>
          <p:nvPr/>
        </p:nvSpPr>
        <p:spPr bwMode="auto">
          <a:xfrm flipH="0" flipV="0">
            <a:off x="516368" y="3693094"/>
            <a:ext cx="5821756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Top 5 highest-paid employees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3518851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1259" y="1522899"/>
            <a:ext cx="5238749" cy="1657350"/>
          </a:xfrm>
          <a:prstGeom prst="rect">
            <a:avLst/>
          </a:prstGeom>
        </p:spPr>
      </p:pic>
      <p:pic>
        <p:nvPicPr>
          <p:cNvPr id="8678017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71499" y="1302236"/>
            <a:ext cx="3952874" cy="2257425"/>
          </a:xfrm>
          <a:prstGeom prst="rect">
            <a:avLst/>
          </a:prstGeom>
        </p:spPr>
      </p:pic>
      <p:pic>
        <p:nvPicPr>
          <p:cNvPr id="23203862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63537" y="4505733"/>
            <a:ext cx="6729834" cy="1513537"/>
          </a:xfrm>
          <a:prstGeom prst="rect">
            <a:avLst/>
          </a:prstGeom>
        </p:spPr>
      </p:pic>
      <p:pic>
        <p:nvPicPr>
          <p:cNvPr id="73287274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8073" y="4371528"/>
            <a:ext cx="4933949" cy="1990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5669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143747631" name=""/>
          <p:cNvSpPr/>
          <p:nvPr/>
        </p:nvSpPr>
        <p:spPr bwMode="auto">
          <a:xfrm flipH="0" flipV="0">
            <a:off x="519608" y="1018645"/>
            <a:ext cx="5820316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job role offers the highest salary?</a:t>
            </a:r>
            <a:endParaRPr sz="2800"/>
          </a:p>
        </p:txBody>
      </p:sp>
      <p:sp>
        <p:nvSpPr>
          <p:cNvPr id="561408249" name=""/>
          <p:cNvSpPr/>
          <p:nvPr/>
        </p:nvSpPr>
        <p:spPr bwMode="auto">
          <a:xfrm flipH="0" flipV="0">
            <a:off x="516368" y="3693094"/>
            <a:ext cx="7515809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Employees with highest number of qualifications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9176957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9624" y="1572111"/>
            <a:ext cx="5286375" cy="1400174"/>
          </a:xfrm>
          <a:prstGeom prst="rect">
            <a:avLst/>
          </a:prstGeom>
        </p:spPr>
      </p:pic>
      <p:pic>
        <p:nvPicPr>
          <p:cNvPr id="14215462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69062" y="1799166"/>
            <a:ext cx="3943350" cy="638174"/>
          </a:xfrm>
          <a:prstGeom prst="rect">
            <a:avLst/>
          </a:prstGeom>
        </p:spPr>
      </p:pic>
      <p:pic>
        <p:nvPicPr>
          <p:cNvPr id="176690485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63645" y="4639858"/>
            <a:ext cx="6670108" cy="1454066"/>
          </a:xfrm>
          <a:prstGeom prst="rect">
            <a:avLst/>
          </a:prstGeom>
        </p:spPr>
      </p:pic>
      <p:pic>
        <p:nvPicPr>
          <p:cNvPr id="118078104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09624" y="4401733"/>
            <a:ext cx="4295774" cy="1800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43420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647597233" name=""/>
          <p:cNvSpPr/>
          <p:nvPr/>
        </p:nvSpPr>
        <p:spPr bwMode="auto">
          <a:xfrm flipH="0" flipV="0">
            <a:off x="519608" y="939270"/>
            <a:ext cx="5821756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 leave count per department</a:t>
            </a:r>
            <a:endParaRPr sz="2800"/>
          </a:p>
        </p:txBody>
      </p:sp>
      <p:sp>
        <p:nvSpPr>
          <p:cNvPr id="1408372092" name=""/>
          <p:cNvSpPr/>
          <p:nvPr/>
        </p:nvSpPr>
        <p:spPr bwMode="auto">
          <a:xfrm flipH="0" flipV="0">
            <a:off x="516368" y="3906634"/>
            <a:ext cx="4947997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Employees with most leaves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87103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8374" y="1445725"/>
            <a:ext cx="4724399" cy="2343150"/>
          </a:xfrm>
          <a:prstGeom prst="rect">
            <a:avLst/>
          </a:prstGeom>
        </p:spPr>
      </p:pic>
      <p:pic>
        <p:nvPicPr>
          <p:cNvPr id="17967669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14583" y="1474300"/>
            <a:ext cx="3971925" cy="2286000"/>
          </a:xfrm>
          <a:prstGeom prst="rect">
            <a:avLst/>
          </a:prstGeom>
        </p:spPr>
      </p:pic>
      <p:pic>
        <p:nvPicPr>
          <p:cNvPr id="117927270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80591" y="4392083"/>
            <a:ext cx="4019549" cy="1800225"/>
          </a:xfrm>
          <a:prstGeom prst="rect">
            <a:avLst/>
          </a:prstGeom>
        </p:spPr>
      </p:pic>
      <p:pic>
        <p:nvPicPr>
          <p:cNvPr id="17076647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195357" y="4550833"/>
            <a:ext cx="6810374" cy="1581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31458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807733659" name=""/>
          <p:cNvSpPr/>
          <p:nvPr/>
        </p:nvSpPr>
        <p:spPr bwMode="auto">
          <a:xfrm flipH="0" flipV="0">
            <a:off x="413775" y="886353"/>
            <a:ext cx="5827156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Gender distribution across departments</a:t>
            </a:r>
            <a:endParaRPr sz="2800"/>
          </a:p>
        </p:txBody>
      </p:sp>
      <p:pic>
        <p:nvPicPr>
          <p:cNvPr id="3767500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1354" y="1465791"/>
            <a:ext cx="8334374" cy="2762249"/>
          </a:xfrm>
          <a:prstGeom prst="rect">
            <a:avLst/>
          </a:prstGeom>
        </p:spPr>
      </p:pic>
      <p:pic>
        <p:nvPicPr>
          <p:cNvPr id="7964658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978905" y="3045354"/>
            <a:ext cx="5822187" cy="3317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29786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37691922" name=""/>
          <p:cNvSpPr/>
          <p:nvPr/>
        </p:nvSpPr>
        <p:spPr bwMode="auto">
          <a:xfrm flipH="0" flipV="0">
            <a:off x="427003" y="805105"/>
            <a:ext cx="5827516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Age distribution analysis</a:t>
            </a:r>
            <a:endParaRPr sz="2800"/>
          </a:p>
        </p:txBody>
      </p:sp>
      <p:pic>
        <p:nvPicPr>
          <p:cNvPr id="65333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6943" y="1351248"/>
            <a:ext cx="5079338" cy="3041579"/>
          </a:xfrm>
          <a:prstGeom prst="rect">
            <a:avLst/>
          </a:prstGeom>
        </p:spPr>
      </p:pic>
      <p:pic>
        <p:nvPicPr>
          <p:cNvPr id="163701935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46868" y="4683124"/>
            <a:ext cx="7098825" cy="1706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46427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706299833" name=""/>
          <p:cNvSpPr/>
          <p:nvPr/>
        </p:nvSpPr>
        <p:spPr bwMode="auto">
          <a:xfrm flipH="0" flipV="0">
            <a:off x="321170" y="752189"/>
            <a:ext cx="9245950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Compensation quartiles analysis (using manual quartile calculation)</a:t>
            </a:r>
            <a:endParaRPr sz="3600"/>
          </a:p>
        </p:txBody>
      </p:sp>
      <p:pic>
        <p:nvPicPr>
          <p:cNvPr id="513646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5833" y="1327149"/>
            <a:ext cx="5808958" cy="3965574"/>
          </a:xfrm>
          <a:prstGeom prst="rect">
            <a:avLst/>
          </a:prstGeom>
        </p:spPr>
      </p:pic>
      <p:pic>
        <p:nvPicPr>
          <p:cNvPr id="44045623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60624" y="5423958"/>
            <a:ext cx="8174615" cy="1296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8700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727078811" name=""/>
          <p:cNvSpPr/>
          <p:nvPr/>
        </p:nvSpPr>
        <p:spPr bwMode="auto">
          <a:xfrm flipH="0" flipV="0">
            <a:off x="427003" y="805105"/>
            <a:ext cx="7421405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13</a:t>
            </a: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Salary vs Bonus ratio analysis by department</a:t>
            </a:r>
            <a:endParaRPr sz="2800" b="1" i="0">
              <a:solidFill>
                <a:schemeClr val="tx1"/>
              </a:solidFill>
            </a:endParaRPr>
          </a:p>
        </p:txBody>
      </p:sp>
      <p:pic>
        <p:nvPicPr>
          <p:cNvPr id="1015427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7082" y="1511299"/>
            <a:ext cx="7762874" cy="1838324"/>
          </a:xfrm>
          <a:prstGeom prst="rect">
            <a:avLst/>
          </a:prstGeom>
        </p:spPr>
      </p:pic>
      <p:pic>
        <p:nvPicPr>
          <p:cNvPr id="6961968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422291" y="3693423"/>
            <a:ext cx="7038974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402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019389014" name=""/>
          <p:cNvSpPr/>
          <p:nvPr/>
        </p:nvSpPr>
        <p:spPr bwMode="auto">
          <a:xfrm flipH="0" flipV="0">
            <a:off x="427003" y="805105"/>
            <a:ext cx="8783289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Department workload analysis (employees vs leave patterns)</a:t>
            </a:r>
            <a:endParaRPr sz="2400" b="0" i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1687425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4791" y="1375833"/>
            <a:ext cx="8991599" cy="2943224"/>
          </a:xfrm>
          <a:prstGeom prst="rect">
            <a:avLst/>
          </a:prstGeom>
        </p:spPr>
      </p:pic>
      <p:pic>
        <p:nvPicPr>
          <p:cNvPr id="156676432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39050" y="4392083"/>
            <a:ext cx="9248774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39826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886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and Insights about Employee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286821811" name=""/>
          <p:cNvSpPr/>
          <p:nvPr/>
        </p:nvSpPr>
        <p:spPr bwMode="auto">
          <a:xfrm flipH="0" flipV="0">
            <a:off x="427003" y="805105"/>
            <a:ext cx="7427885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Department cost analysis and budget efficiency</a:t>
            </a:r>
            <a:endParaRPr sz="2800" b="1" i="0">
              <a:solidFill>
                <a:schemeClr val="tx1"/>
              </a:solidFill>
            </a:endParaRPr>
          </a:p>
        </p:txBody>
      </p:sp>
      <p:pic>
        <p:nvPicPr>
          <p:cNvPr id="1791542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0017" y="1309687"/>
            <a:ext cx="6896099" cy="2686050"/>
          </a:xfrm>
          <a:prstGeom prst="rect">
            <a:avLst/>
          </a:prstGeom>
        </p:spPr>
      </p:pic>
      <p:pic>
        <p:nvPicPr>
          <p:cNvPr id="121707072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4270" y="4206874"/>
            <a:ext cx="11603333" cy="2209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36205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2708" y="132291"/>
            <a:ext cx="9630833" cy="7937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45000" lnSpcReduction="11000"/>
          </a:bodyPr>
          <a:lstStyle/>
          <a:p>
            <a:pPr algn="ctr">
              <a:defRPr/>
            </a:pPr>
            <a:r>
              <a:rPr lang="en-IN" sz="8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 </a:t>
            </a:r>
            <a:endParaRPr lang="en-IN" sz="4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89649753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12249" y="873166"/>
            <a:ext cx="11567499" cy="55826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Summary:</a:t>
            </a:r>
            <a:b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 algn="l">
              <a:buFont typeface="Wingdings"/>
              <a:buChar char="Ø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Built a robust SQL-based Employee Management System covering personal profiles, job roles, salary/bonus, qualifications, leave, and payroll with six linked tables ensuring data integrity and easy access.</a:t>
            </a:r>
            <a:endParaRPr sz="4800"/>
          </a:p>
          <a:p>
            <a:pPr marL="305908" indent="-305908" algn="l">
              <a:buFont typeface="Wingdings"/>
              <a:buChar char="Ø"/>
              <a:defRPr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 algn="l">
              <a:buFont typeface="Wingdings"/>
              <a:buChar char="Ø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advanced SQL analytics for workforce demographics, pay equity, performance, and leave patterns. Enabled complex joins, aggregated analytics, and real-time reporting for actionable insights.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 algn="l">
              <a:buFont typeface="Wingdings"/>
              <a:buChar char="Ø"/>
              <a:defRPr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 algn="l">
              <a:buFont typeface="Wingdings"/>
              <a:buChar char="Ø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data-driven HR decisions, optimizes workforce management, improves satisfaction, and enhances operational efficiency. Helps HR identify talent, monitor compensation, and manage leave trends effectively.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 algn="l">
              <a:buFont typeface="Wingdings"/>
              <a:buChar char="Ø"/>
              <a:defRPr/>
            </a:pPr>
            <a:endParaRPr/>
          </a:p>
          <a:p>
            <a:pPr marL="305908" indent="-305908" algn="l">
              <a:buFont typeface="Wingdings"/>
              <a:buChar char="Ø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Provides a scalable, analytics-driven platform for modern HR operations and strategic organizational growth.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2025-09-27T14:45:48Z</dcterms:modified>
</cp:coreProperties>
</file>